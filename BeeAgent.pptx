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bs-Latn-BA"/>
              <a:t>Kliknite kako biste dodali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40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8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s-Latn-BA"/>
              <a:t>Kliknite da uredite stilove glavnog teksta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4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Naslov i 2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8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eđe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s-Latn-BA"/>
              <a:t>Kliknite da uredite stilove glavnog teksta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s-Latn-BA"/>
              <a:t>Kliknite da uredite stilove glavnog teksta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9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5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9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 sli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s-Latn-BA"/>
              <a:t>Kliknite da uredite stilove glavnog teksta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2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s-Latn-BA"/>
              <a:t>Kliknite na ikonu kako biste dodali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s-Latn-BA"/>
              <a:t>Kliknite da uredite stilove glavnog teksta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5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vertikaln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6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n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9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s-Latn-BA"/>
              <a:t>Kliknite kako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s-Latn-BA"/>
              <a:t>Kliknite da uredite stilove glavnog teksta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1084E798-E301-42B3-8BF6-7CC293B7A9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AE7043D-C2EF-417E-B499-0788F7E45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7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00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CF1129-C704-8950-DDAE-F66C5A32E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7820"/>
            <a:ext cx="9144000" cy="9191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BeeAgent</a:t>
            </a:r>
            <a:endParaRPr lang="en-US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72A329E-67CC-01EE-3EF4-DF2E800D9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4720" y="5181600"/>
            <a:ext cx="4663440" cy="1331118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err="1"/>
              <a:t>Predmet</a:t>
            </a:r>
            <a:r>
              <a:rPr lang="en-US" dirty="0"/>
              <a:t>: </a:t>
            </a:r>
            <a:r>
              <a:rPr lang="en-US" dirty="0" err="1"/>
              <a:t>umjetna</a:t>
            </a:r>
            <a:r>
              <a:rPr lang="en-US" dirty="0"/>
              <a:t> </a:t>
            </a:r>
            <a:r>
              <a:rPr lang="en-US" dirty="0" err="1"/>
              <a:t>inteligencija</a:t>
            </a:r>
            <a:endParaRPr lang="en-US" dirty="0"/>
          </a:p>
          <a:p>
            <a:pPr algn="l"/>
            <a:r>
              <a:rPr lang="en-US" dirty="0" err="1"/>
              <a:t>Profesor</a:t>
            </a:r>
            <a:r>
              <a:rPr lang="en-US" dirty="0"/>
              <a:t>: </a:t>
            </a:r>
            <a:r>
              <a:rPr lang="en-US" dirty="0" err="1"/>
              <a:t>prof.dr</a:t>
            </a:r>
            <a:r>
              <a:rPr lang="en-US" dirty="0"/>
              <a:t>. Nina </a:t>
            </a:r>
            <a:r>
              <a:rPr lang="en-US" dirty="0" err="1"/>
              <a:t>Bijedić</a:t>
            </a:r>
            <a:endParaRPr lang="en-US" dirty="0"/>
          </a:p>
          <a:p>
            <a:pPr algn="l"/>
            <a:r>
              <a:rPr lang="en-US" dirty="0"/>
              <a:t>Student: Omar Čolakhodžić (IB210088)</a:t>
            </a:r>
          </a:p>
        </p:txBody>
      </p:sp>
      <p:sp>
        <p:nvSpPr>
          <p:cNvPr id="4" name="Naslov 1">
            <a:extLst>
              <a:ext uri="{FF2B5EF4-FFF2-40B4-BE49-F238E27FC236}">
                <a16:creationId xmlns:a16="http://schemas.microsoft.com/office/drawing/2014/main" id="{A693A483-930F-DAEB-9BD8-F52CF1CB7745}"/>
              </a:ext>
            </a:extLst>
          </p:cNvPr>
          <p:cNvSpPr txBox="1">
            <a:spLocks/>
          </p:cNvSpPr>
          <p:nvPr/>
        </p:nvSpPr>
        <p:spPr>
          <a:xfrm>
            <a:off x="325120" y="518002"/>
            <a:ext cx="11541760" cy="7566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Fakultet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dirty="0" err="1">
                <a:solidFill>
                  <a:schemeClr val="bg1"/>
                </a:solidFill>
              </a:rPr>
              <a:t>informacijskih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dirty="0" err="1">
                <a:solidFill>
                  <a:schemeClr val="bg1"/>
                </a:solidFill>
              </a:rPr>
              <a:t>tehnologija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1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1CCF32E-75F2-DACC-09D6-0E499334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843280"/>
            <a:ext cx="9875520" cy="1356360"/>
          </a:xfrm>
        </p:spPr>
        <p:txBody>
          <a:bodyPr/>
          <a:lstStyle/>
          <a:p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BeeAgent</a:t>
            </a:r>
            <a:r>
              <a:rPr lang="en-US" dirty="0"/>
              <a:t>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C3ABB67-A518-D7D6-EAA1-220EA0198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923540"/>
            <a:ext cx="9872871" cy="1620520"/>
          </a:xfrm>
        </p:spPr>
        <p:txBody>
          <a:bodyPr/>
          <a:lstStyle/>
          <a:p>
            <a:r>
              <a:rPr lang="en-US" dirty="0"/>
              <a:t>Agent koji </a:t>
            </a:r>
            <a:r>
              <a:rPr lang="en-US" dirty="0" err="1"/>
              <a:t>pomaže</a:t>
            </a:r>
            <a:r>
              <a:rPr lang="en-US" dirty="0"/>
              <a:t> </a:t>
            </a:r>
            <a:r>
              <a:rPr lang="en-US" dirty="0" err="1"/>
              <a:t>pčelarima</a:t>
            </a:r>
            <a:r>
              <a:rPr lang="en-US" dirty="0"/>
              <a:t> u </a:t>
            </a:r>
            <a:r>
              <a:rPr lang="en-US" dirty="0" err="1"/>
              <a:t>donošenju</a:t>
            </a:r>
            <a:r>
              <a:rPr lang="en-US" dirty="0"/>
              <a:t> </a:t>
            </a:r>
            <a:r>
              <a:rPr lang="en-US" dirty="0" err="1"/>
              <a:t>odluka</a:t>
            </a:r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o </a:t>
            </a:r>
            <a:r>
              <a:rPr lang="en-US" dirty="0" err="1"/>
              <a:t>košnici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preporuku</a:t>
            </a:r>
            <a:r>
              <a:rPr lang="en-US" dirty="0"/>
              <a:t> </a:t>
            </a:r>
            <a:r>
              <a:rPr lang="en-US" dirty="0" err="1"/>
              <a:t>akcije</a:t>
            </a:r>
            <a:endParaRPr lang="en-US" dirty="0"/>
          </a:p>
          <a:p>
            <a:r>
              <a:rPr lang="en-US" dirty="0"/>
              <a:t>Agent </a:t>
            </a:r>
            <a:r>
              <a:rPr lang="en-US" dirty="0" err="1"/>
              <a:t>uči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feedback </a:t>
            </a:r>
            <a:r>
              <a:rPr lang="en-US" dirty="0" err="1"/>
              <a:t>korisnika</a:t>
            </a:r>
            <a:endParaRPr lang="en-US" dirty="0"/>
          </a:p>
        </p:txBody>
      </p:sp>
      <p:pic>
        <p:nvPicPr>
          <p:cNvPr id="5" name="Slika 4" descr="Slika koja sadrži tekst, snimak ekrana, Font, broj&#10;&#10;Sadržaj koji je generiran pomoću AI-ja može biti netačan.">
            <a:extLst>
              <a:ext uri="{FF2B5EF4-FFF2-40B4-BE49-F238E27FC236}">
                <a16:creationId xmlns:a16="http://schemas.microsoft.com/office/drawing/2014/main" id="{0A0E72F3-C69B-7DDB-8124-958A1A90D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461" y="1287780"/>
            <a:ext cx="4191288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9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94F29C8-8D98-2125-4A90-7CD62035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Ulazni</a:t>
            </a:r>
            <a:r>
              <a:rPr lang="en-US" dirty="0"/>
              <a:t> </a:t>
            </a:r>
            <a:r>
              <a:rPr lang="en-US" dirty="0" err="1"/>
              <a:t>podaci</a:t>
            </a:r>
            <a:endParaRPr lang="en-U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F10D3E2-FD1C-0C93-3D59-5E8C37FDD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Temperatura</a:t>
            </a:r>
            <a:endParaRPr lang="en-US" dirty="0"/>
          </a:p>
          <a:p>
            <a:r>
              <a:rPr lang="en-US" dirty="0" err="1"/>
              <a:t>Vlažnost</a:t>
            </a:r>
            <a:r>
              <a:rPr lang="en-US" dirty="0"/>
              <a:t> </a:t>
            </a:r>
            <a:r>
              <a:rPr lang="en-US" dirty="0" err="1"/>
              <a:t>zraka</a:t>
            </a:r>
            <a:endParaRPr lang="en-US" dirty="0"/>
          </a:p>
          <a:p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ramova</a:t>
            </a:r>
            <a:endParaRPr lang="en-US" dirty="0"/>
          </a:p>
          <a:p>
            <a:r>
              <a:rPr lang="en-US" dirty="0" err="1"/>
              <a:t>Snaga</a:t>
            </a:r>
            <a:r>
              <a:rPr lang="en-US" dirty="0"/>
              <a:t> </a:t>
            </a:r>
            <a:r>
              <a:rPr lang="en-US" dirty="0" err="1"/>
              <a:t>zajednice</a:t>
            </a:r>
            <a:endParaRPr lang="en-US" dirty="0"/>
          </a:p>
          <a:p>
            <a:r>
              <a:rPr lang="en-US" dirty="0" err="1"/>
              <a:t>Prisustvo</a:t>
            </a:r>
            <a:r>
              <a:rPr lang="en-US" dirty="0"/>
              <a:t> </a:t>
            </a:r>
            <a:r>
              <a:rPr lang="en-US" dirty="0" err="1"/>
              <a:t>varoe</a:t>
            </a:r>
            <a:endParaRPr lang="en-US" dirty="0"/>
          </a:p>
        </p:txBody>
      </p:sp>
      <p:pic>
        <p:nvPicPr>
          <p:cNvPr id="7" name="Slika 6" descr="Slika koja sadrži crtež, clipart, crtani film, ilustracija&#10;&#10;Sadržaj koji je generiran pomoću AI-ja može biti netačan.">
            <a:extLst>
              <a:ext uri="{FF2B5EF4-FFF2-40B4-BE49-F238E27FC236}">
                <a16:creationId xmlns:a16="http://schemas.microsoft.com/office/drawing/2014/main" id="{6F3614D8-09CA-EC1E-E858-18BEF365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212" y="1965960"/>
            <a:ext cx="2983548" cy="276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A1DD557-587A-4C4C-E459-E34418C6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Izlaz</a:t>
            </a:r>
            <a:r>
              <a:rPr lang="en-US" dirty="0"/>
              <a:t> </a:t>
            </a:r>
            <a:r>
              <a:rPr lang="en-US" dirty="0" err="1"/>
              <a:t>agenta</a:t>
            </a:r>
            <a:endParaRPr lang="en-U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9F13D72-3D36-25CF-FC77-547F8F40B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8031480" cy="3307080"/>
          </a:xfrm>
        </p:spPr>
        <p:txBody>
          <a:bodyPr numCol="2">
            <a:normAutofit/>
          </a:bodyPr>
          <a:lstStyle/>
          <a:p>
            <a:r>
              <a:rPr lang="en-US" dirty="0" err="1"/>
              <a:t>Ništa</a:t>
            </a:r>
            <a:endParaRPr lang="en-US" dirty="0"/>
          </a:p>
          <a:p>
            <a:r>
              <a:rPr lang="en-US" dirty="0" err="1"/>
              <a:t>Prihrana</a:t>
            </a:r>
            <a:r>
              <a:rPr lang="en-US" dirty="0"/>
              <a:t> </a:t>
            </a:r>
          </a:p>
          <a:p>
            <a:r>
              <a:rPr lang="en-US" dirty="0" err="1"/>
              <a:t>Provjera</a:t>
            </a:r>
            <a:r>
              <a:rPr lang="en-US" dirty="0"/>
              <a:t> </a:t>
            </a:r>
            <a:r>
              <a:rPr lang="en-US" dirty="0" err="1"/>
              <a:t>varoe</a:t>
            </a:r>
            <a:endParaRPr lang="en-US" dirty="0"/>
          </a:p>
          <a:p>
            <a:r>
              <a:rPr lang="en-US" dirty="0" err="1"/>
              <a:t>Preseljenje</a:t>
            </a:r>
            <a:endParaRPr lang="en-US" dirty="0"/>
          </a:p>
          <a:p>
            <a:r>
              <a:rPr lang="en-US" dirty="0" err="1"/>
              <a:t>Berba</a:t>
            </a:r>
            <a:endParaRPr lang="en-US" dirty="0"/>
          </a:p>
          <a:p>
            <a:r>
              <a:rPr lang="en-US" dirty="0" err="1"/>
              <a:t>Zalivanje</a:t>
            </a:r>
            <a:endParaRPr lang="en-US" dirty="0"/>
          </a:p>
          <a:p>
            <a:r>
              <a:rPr lang="en-US" dirty="0" err="1"/>
              <a:t>Hranjenje</a:t>
            </a:r>
            <a:endParaRPr lang="en-US" dirty="0"/>
          </a:p>
          <a:p>
            <a:r>
              <a:rPr lang="en-US" dirty="0" err="1"/>
              <a:t>Prskanje</a:t>
            </a:r>
            <a:endParaRPr lang="en-US" dirty="0"/>
          </a:p>
          <a:p>
            <a:r>
              <a:rPr lang="en-US" dirty="0" err="1"/>
              <a:t>Povećanje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smanjenje</a:t>
            </a:r>
            <a:r>
              <a:rPr lang="en-US" dirty="0"/>
              <a:t> </a:t>
            </a:r>
            <a:r>
              <a:rPr lang="en-US" dirty="0" err="1"/>
              <a:t>ramova</a:t>
            </a:r>
            <a:endParaRPr lang="en-US" dirty="0"/>
          </a:p>
          <a:p>
            <a:r>
              <a:rPr lang="en-US" dirty="0" err="1"/>
              <a:t>Kontrola</a:t>
            </a:r>
            <a:r>
              <a:rPr lang="en-US" dirty="0"/>
              <a:t> </a:t>
            </a:r>
            <a:r>
              <a:rPr lang="en-US" dirty="0" err="1"/>
              <a:t>štetočina</a:t>
            </a:r>
            <a:endParaRPr lang="en-US" dirty="0"/>
          </a:p>
          <a:p>
            <a:r>
              <a:rPr lang="en-US" dirty="0" err="1"/>
              <a:t>Promjena</a:t>
            </a:r>
            <a:r>
              <a:rPr lang="en-US" dirty="0"/>
              <a:t> </a:t>
            </a:r>
            <a:r>
              <a:rPr lang="en-US" dirty="0" err="1"/>
              <a:t>lokacije</a:t>
            </a:r>
            <a:endParaRPr lang="en-US" dirty="0"/>
          </a:p>
          <a:p>
            <a:r>
              <a:rPr lang="en-US" dirty="0" err="1"/>
              <a:t>Provjera</a:t>
            </a:r>
            <a:r>
              <a:rPr lang="en-US" dirty="0"/>
              <a:t> </a:t>
            </a:r>
            <a:r>
              <a:rPr lang="en-US" dirty="0" err="1"/>
              <a:t>zdravlja</a:t>
            </a:r>
            <a:endParaRPr lang="en-US" dirty="0"/>
          </a:p>
          <a:p>
            <a:r>
              <a:rPr lang="en-US" dirty="0" err="1"/>
              <a:t>Čišćenje</a:t>
            </a:r>
            <a:r>
              <a:rPr lang="en-US" dirty="0"/>
              <a:t> </a:t>
            </a:r>
            <a:r>
              <a:rPr lang="en-US" dirty="0" err="1"/>
              <a:t>zajednice</a:t>
            </a:r>
            <a:endParaRPr lang="en-US" dirty="0"/>
          </a:p>
          <a:p>
            <a:r>
              <a:rPr lang="en-US" dirty="0" err="1"/>
              <a:t>Dodatna</a:t>
            </a:r>
            <a:r>
              <a:rPr lang="en-US" dirty="0"/>
              <a:t> </a:t>
            </a:r>
            <a:r>
              <a:rPr lang="en-US" dirty="0" err="1"/>
              <a:t>inspekcija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2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3777C34-85AD-B4FC-C0AC-8B2A4547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Kako </a:t>
            </a:r>
            <a:r>
              <a:rPr lang="en-US" dirty="0" err="1"/>
              <a:t>BeeAgent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D702420-0F39-560A-6827-5F3E9ED09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51" y="2428241"/>
            <a:ext cx="9872871" cy="2463800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unosi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frontendu</a:t>
            </a: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 err="1"/>
              <a:t>Podaci</a:t>
            </a:r>
            <a:r>
              <a:rPr lang="en-US" dirty="0"/>
              <a:t> se </a:t>
            </a:r>
            <a:r>
              <a:rPr lang="en-US" dirty="0" err="1"/>
              <a:t>šalju</a:t>
            </a:r>
            <a:r>
              <a:rPr lang="en-US" dirty="0"/>
              <a:t> </a:t>
            </a:r>
            <a:r>
              <a:rPr lang="en-US" dirty="0" err="1"/>
              <a:t>backendu</a:t>
            </a: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 err="1"/>
              <a:t>Podaci</a:t>
            </a:r>
            <a:r>
              <a:rPr lang="en-US" dirty="0"/>
              <a:t> se </a:t>
            </a:r>
            <a:r>
              <a:rPr lang="en-US" dirty="0" err="1"/>
              <a:t>obrađuju</a:t>
            </a:r>
            <a:r>
              <a:rPr lang="en-US" dirty="0"/>
              <a:t> </a:t>
            </a:r>
            <a:r>
              <a:rPr lang="en-US" dirty="0" err="1"/>
              <a:t>pomoću</a:t>
            </a:r>
            <a:r>
              <a:rPr lang="en-US" dirty="0"/>
              <a:t> scikit-learn </a:t>
            </a:r>
            <a:r>
              <a:rPr lang="en-US" dirty="0" err="1"/>
              <a:t>modela</a:t>
            </a: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 err="1"/>
              <a:t>Rezultati</a:t>
            </a:r>
            <a:r>
              <a:rPr lang="en-US" dirty="0"/>
              <a:t> se </a:t>
            </a:r>
            <a:r>
              <a:rPr lang="en-US" dirty="0" err="1"/>
              <a:t>trajno</a:t>
            </a:r>
            <a:r>
              <a:rPr lang="en-US" dirty="0"/>
              <a:t> </a:t>
            </a:r>
            <a:r>
              <a:rPr lang="en-US" dirty="0" err="1"/>
              <a:t>čuvaju</a:t>
            </a:r>
            <a:r>
              <a:rPr lang="en-US" dirty="0"/>
              <a:t> u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se </a:t>
            </a:r>
            <a:r>
              <a:rPr lang="en-US" dirty="0" err="1"/>
              <a:t>vrate</a:t>
            </a:r>
            <a:r>
              <a:rPr lang="en-US" dirty="0"/>
              <a:t> </a:t>
            </a:r>
            <a:r>
              <a:rPr lang="en-US" dirty="0" err="1"/>
              <a:t>korisniku</a:t>
            </a: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feedback </a:t>
            </a:r>
            <a:r>
              <a:rPr lang="en-US" dirty="0" err="1"/>
              <a:t>pomoću</a:t>
            </a:r>
            <a:r>
              <a:rPr lang="en-US" dirty="0"/>
              <a:t> </a:t>
            </a:r>
            <a:r>
              <a:rPr lang="en-US" dirty="0" err="1"/>
              <a:t>kojeg</a:t>
            </a:r>
            <a:r>
              <a:rPr lang="en-US" dirty="0"/>
              <a:t> model </a:t>
            </a:r>
            <a:r>
              <a:rPr lang="en-US" dirty="0" err="1"/>
              <a:t>uči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625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E9CCB12-24D0-A257-5E2F-30FF06D0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Baza </a:t>
            </a:r>
            <a:r>
              <a:rPr lang="en-US" dirty="0" err="1"/>
              <a:t>podataka</a:t>
            </a:r>
            <a:endParaRPr lang="en-U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3749E13-AAD9-8E13-C273-F316D18E5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Slika 4" descr="Slika koja sadrži tekst, Font, linija, broj">
            <a:extLst>
              <a:ext uri="{FF2B5EF4-FFF2-40B4-BE49-F238E27FC236}">
                <a16:creationId xmlns:a16="http://schemas.microsoft.com/office/drawing/2014/main" id="{0BFE76EE-AC9E-2056-5988-C44F819F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1965960"/>
            <a:ext cx="10939737" cy="413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7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631D4C1-736E-5E6E-2633-00FA2718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3F7A46A-D5F4-26B0-98B4-4E0DB7420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Početni</a:t>
            </a:r>
            <a:r>
              <a:rPr lang="en-US" dirty="0"/>
              <a:t> model </a:t>
            </a:r>
            <a:r>
              <a:rPr lang="en-US" dirty="0" err="1"/>
              <a:t>treniran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internom</a:t>
            </a:r>
            <a:r>
              <a:rPr lang="en-US" dirty="0"/>
              <a:t> </a:t>
            </a:r>
            <a:r>
              <a:rPr lang="en-US" dirty="0" err="1"/>
              <a:t>datasetu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firme</a:t>
            </a:r>
            <a:endParaRPr lang="en-US" dirty="0"/>
          </a:p>
          <a:p>
            <a:r>
              <a:rPr lang="en-US" dirty="0"/>
              <a:t>Dataset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historijske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o </a:t>
            </a:r>
            <a:r>
              <a:rPr lang="en-US" dirty="0" err="1"/>
              <a:t>košnicama</a:t>
            </a:r>
            <a:r>
              <a:rPr lang="en-US" dirty="0"/>
              <a:t> I </a:t>
            </a:r>
            <a:r>
              <a:rPr lang="en-US" dirty="0" err="1"/>
              <a:t>intervencijama</a:t>
            </a:r>
            <a:endParaRPr lang="en-US" dirty="0"/>
          </a:p>
          <a:p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javno</a:t>
            </a:r>
            <a:r>
              <a:rPr lang="en-US" dirty="0"/>
              <a:t> </a:t>
            </a:r>
            <a:r>
              <a:rPr lang="en-US" dirty="0" err="1"/>
              <a:t>dostupni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poslovne</a:t>
            </a:r>
            <a:r>
              <a:rPr lang="en-US" dirty="0"/>
              <a:t> I </a:t>
            </a:r>
            <a:r>
              <a:rPr lang="en-US" dirty="0" err="1"/>
              <a:t>vlasničke</a:t>
            </a:r>
            <a:r>
              <a:rPr lang="en-US" dirty="0"/>
              <a:t> </a:t>
            </a:r>
            <a:r>
              <a:rPr lang="en-US" dirty="0" err="1"/>
              <a:t>prirode</a:t>
            </a:r>
            <a:endParaRPr lang="en-US" dirty="0"/>
          </a:p>
        </p:txBody>
      </p:sp>
      <p:pic>
        <p:nvPicPr>
          <p:cNvPr id="5" name="Slika 4" descr="Slika koja sadrži Električno plava, Kobaltno plava, Majorelle plava&#10;&#10;Sadržaj koji je generiran pomoću AI-ja može biti netačan.">
            <a:extLst>
              <a:ext uri="{FF2B5EF4-FFF2-40B4-BE49-F238E27FC236}">
                <a16:creationId xmlns:a16="http://schemas.microsoft.com/office/drawing/2014/main" id="{16AB6C19-7990-C401-600B-86B0D997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465" y="3566371"/>
            <a:ext cx="2980648" cy="2529629"/>
          </a:xfrm>
          <a:prstGeom prst="rect">
            <a:avLst/>
          </a:prstGeom>
        </p:spPr>
      </p:pic>
      <p:pic>
        <p:nvPicPr>
          <p:cNvPr id="7" name="Slika 6" descr="Slika koja sadrži tekst, snimak ekrana, broj, Font&#10;&#10;Sadržaj koji je generiran pomoću AI-ja može biti netačan.">
            <a:extLst>
              <a:ext uri="{FF2B5EF4-FFF2-40B4-BE49-F238E27FC236}">
                <a16:creationId xmlns:a16="http://schemas.microsoft.com/office/drawing/2014/main" id="{13073CE3-BFD9-7702-E814-40BB1267B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242" y="3566371"/>
            <a:ext cx="5263197" cy="261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7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04CC49B-CBFC-AD27-BA12-CD5E0EB0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129" y="368300"/>
            <a:ext cx="9875520" cy="1356360"/>
          </a:xfrm>
        </p:spPr>
        <p:txBody>
          <a:bodyPr/>
          <a:lstStyle/>
          <a:p>
            <a:r>
              <a:rPr lang="en-US" dirty="0" err="1"/>
              <a:t>Strategija</a:t>
            </a:r>
            <a:r>
              <a:rPr lang="en-US" dirty="0"/>
              <a:t> </a:t>
            </a:r>
            <a:r>
              <a:rPr lang="en-US" dirty="0" err="1"/>
              <a:t>učenja</a:t>
            </a:r>
            <a:endParaRPr lang="en-U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1A64415-D3E9-EEC2-5EE2-CF844230D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129" y="1772920"/>
            <a:ext cx="9872871" cy="4038600"/>
          </a:xfrm>
        </p:spPr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inkrementalno</a:t>
            </a:r>
            <a:r>
              <a:rPr lang="en-US" dirty="0"/>
              <a:t> </a:t>
            </a:r>
            <a:r>
              <a:rPr lang="en-US" dirty="0" err="1"/>
              <a:t>učenje</a:t>
            </a:r>
            <a:endParaRPr lang="en-US" dirty="0"/>
          </a:p>
          <a:p>
            <a:r>
              <a:rPr lang="en-US" dirty="0"/>
              <a:t>Model se ne </a:t>
            </a:r>
            <a:r>
              <a:rPr lang="en-US" dirty="0" err="1"/>
              <a:t>trenira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vlastitim</a:t>
            </a:r>
            <a:r>
              <a:rPr lang="en-US" dirty="0"/>
              <a:t> </a:t>
            </a:r>
            <a:r>
              <a:rPr lang="en-US" dirty="0" err="1"/>
              <a:t>predikcijama</a:t>
            </a:r>
            <a:endParaRPr lang="en-US" dirty="0"/>
          </a:p>
          <a:p>
            <a:r>
              <a:rPr lang="en-US" dirty="0" err="1"/>
              <a:t>Učenje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potvrđene</a:t>
            </a:r>
            <a:r>
              <a:rPr lang="en-US" dirty="0"/>
              <a:t> </a:t>
            </a:r>
            <a:r>
              <a:rPr lang="en-US" dirty="0" err="1"/>
              <a:t>korisničke</a:t>
            </a:r>
            <a:r>
              <a:rPr lang="en-US" dirty="0"/>
              <a:t> </a:t>
            </a:r>
            <a:r>
              <a:rPr lang="en-US" dirty="0" err="1"/>
              <a:t>odluke</a:t>
            </a:r>
            <a:endParaRPr lang="en-US" dirty="0"/>
          </a:p>
          <a:p>
            <a:r>
              <a:rPr lang="en-US" dirty="0" err="1"/>
              <a:t>Interni</a:t>
            </a:r>
            <a:r>
              <a:rPr lang="en-US" dirty="0"/>
              <a:t> dataset je </a:t>
            </a:r>
            <a:r>
              <a:rPr lang="en-US" dirty="0" err="1"/>
              <a:t>inicijalno</a:t>
            </a:r>
            <a:r>
              <a:rPr lang="en-US" dirty="0"/>
              <a:t> </a:t>
            </a:r>
            <a:r>
              <a:rPr lang="en-US" dirty="0" err="1"/>
              <a:t>unesen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batch </a:t>
            </a:r>
            <a:r>
              <a:rPr lang="en-US" dirty="0" err="1"/>
              <a:t>treninga</a:t>
            </a:r>
            <a:endParaRPr lang="en-US" dirty="0"/>
          </a:p>
          <a:p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poboljšanje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vrši</a:t>
            </a:r>
            <a:r>
              <a:rPr lang="en-US" dirty="0"/>
              <a:t> se </a:t>
            </a:r>
            <a:r>
              <a:rPr lang="en-US" dirty="0" err="1"/>
              <a:t>kroz</a:t>
            </a:r>
            <a:r>
              <a:rPr lang="en-US" dirty="0"/>
              <a:t> feedback </a:t>
            </a:r>
            <a:r>
              <a:rPr lang="en-US" dirty="0" err="1"/>
              <a:t>korisnika</a:t>
            </a:r>
            <a:endParaRPr lang="en-US" dirty="0"/>
          </a:p>
        </p:txBody>
      </p:sp>
      <p:pic>
        <p:nvPicPr>
          <p:cNvPr id="5" name="Slika 4" descr="Slika koja sadrži tekst, snimak ekrana, Font, linija&#10;&#10;Sadržaj koji je generiran pomoću AI-ja može biti netačan.">
            <a:extLst>
              <a:ext uri="{FF2B5EF4-FFF2-40B4-BE49-F238E27FC236}">
                <a16:creationId xmlns:a16="http://schemas.microsoft.com/office/drawing/2014/main" id="{249A95A6-0F4B-F54D-425B-8C722019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979" y="4265771"/>
            <a:ext cx="4104640" cy="2016441"/>
          </a:xfrm>
          <a:prstGeom prst="rect">
            <a:avLst/>
          </a:prstGeom>
        </p:spPr>
      </p:pic>
      <p:pic>
        <p:nvPicPr>
          <p:cNvPr id="7" name="Slika 6" descr="Slika koja sadrži tekst, snimak ekrana, Font&#10;&#10;Sadržaj koji je generiran pomoću AI-ja može biti netačan.">
            <a:extLst>
              <a:ext uri="{FF2B5EF4-FFF2-40B4-BE49-F238E27FC236}">
                <a16:creationId xmlns:a16="http://schemas.microsoft.com/office/drawing/2014/main" id="{8828DCAC-46A2-F660-5825-2829870B9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4688205"/>
            <a:ext cx="64198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3B9051B-4D06-5809-E8AC-2AF4E94E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  <a:endParaRPr lang="en-U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313CD35-E89B-4748-F4C3-3C88C4DA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SGDClassifier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scikit-learn</a:t>
            </a:r>
          </a:p>
          <a:p>
            <a:r>
              <a:rPr lang="en-US" dirty="0" err="1"/>
              <a:t>Efikasan</a:t>
            </a:r>
            <a:r>
              <a:rPr lang="en-US" dirty="0"/>
              <a:t> za </a:t>
            </a:r>
            <a:r>
              <a:rPr lang="en-US" dirty="0" err="1"/>
              <a:t>učenje</a:t>
            </a:r>
            <a:r>
              <a:rPr lang="en-US" dirty="0"/>
              <a:t> – </a:t>
            </a:r>
            <a:r>
              <a:rPr lang="en-US" dirty="0" err="1"/>
              <a:t>može</a:t>
            </a:r>
            <a:r>
              <a:rPr lang="en-US" dirty="0"/>
              <a:t> se </a:t>
            </a:r>
            <a:r>
              <a:rPr lang="en-US" dirty="0" err="1"/>
              <a:t>nadograđivati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rada </a:t>
            </a:r>
            <a:r>
              <a:rPr lang="en-US" dirty="0" err="1"/>
              <a:t>aplikacije</a:t>
            </a:r>
            <a:endParaRPr lang="en-US" dirty="0"/>
          </a:p>
          <a:p>
            <a:r>
              <a:rPr lang="en-US" dirty="0" err="1"/>
              <a:t>Jaednostavan</a:t>
            </a:r>
            <a:r>
              <a:rPr lang="en-US" dirty="0"/>
              <a:t> I </a:t>
            </a:r>
            <a:r>
              <a:rPr lang="en-US" dirty="0" err="1"/>
              <a:t>brz</a:t>
            </a:r>
            <a:endParaRPr lang="en-US" dirty="0"/>
          </a:p>
          <a:p>
            <a:r>
              <a:rPr lang="en-US" dirty="0" err="1"/>
              <a:t>Dobar</a:t>
            </a:r>
            <a:r>
              <a:rPr lang="en-US" dirty="0"/>
              <a:t> </a:t>
            </a:r>
            <a:r>
              <a:rPr lang="en-US" dirty="0" err="1"/>
              <a:t>kompromis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tačnosti</a:t>
            </a:r>
            <a:r>
              <a:rPr lang="en-US" dirty="0"/>
              <a:t> I </a:t>
            </a:r>
            <a:r>
              <a:rPr lang="en-US" dirty="0" err="1"/>
              <a:t>brzine</a:t>
            </a:r>
            <a:r>
              <a:rPr lang="en-US" dirty="0"/>
              <a:t>, </a:t>
            </a:r>
            <a:r>
              <a:rPr lang="en-US" dirty="0" err="1"/>
              <a:t>idealan</a:t>
            </a:r>
            <a:r>
              <a:rPr lang="en-US" dirty="0"/>
              <a:t> za </a:t>
            </a:r>
            <a:r>
              <a:rPr lang="en-US" dirty="0" err="1"/>
              <a:t>početne</a:t>
            </a:r>
            <a:r>
              <a:rPr lang="en-US" dirty="0"/>
              <a:t> faze I </a:t>
            </a:r>
            <a:r>
              <a:rPr lang="en-US" dirty="0" err="1"/>
              <a:t>iterativno</a:t>
            </a:r>
            <a:r>
              <a:rPr lang="en-US" dirty="0"/>
              <a:t> </a:t>
            </a:r>
            <a:r>
              <a:rPr lang="en-US" dirty="0" err="1"/>
              <a:t>učenje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treniran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povratnih</a:t>
            </a:r>
            <a:r>
              <a:rPr lang="en-US" dirty="0"/>
              <a:t> </a:t>
            </a:r>
            <a:r>
              <a:rPr lang="en-US" dirty="0" err="1"/>
              <a:t>informacija</a:t>
            </a:r>
            <a:r>
              <a:rPr lang="en-US" dirty="0"/>
              <a:t> </a:t>
            </a:r>
            <a:r>
              <a:rPr lang="en-US" dirty="0" err="1"/>
              <a:t>korisnika</a:t>
            </a:r>
            <a:endParaRPr lang="en-US" dirty="0"/>
          </a:p>
        </p:txBody>
      </p:sp>
      <p:pic>
        <p:nvPicPr>
          <p:cNvPr id="5" name="Slika 4" descr="Slika koja sadrži logotip, Font, Grafika, dizajn&#10;&#10;Sadržaj koji je generiran pomoću AI-ja može biti netačan.">
            <a:extLst>
              <a:ext uri="{FF2B5EF4-FFF2-40B4-BE49-F238E27FC236}">
                <a16:creationId xmlns:a16="http://schemas.microsoft.com/office/drawing/2014/main" id="{54742C55-2045-F324-959C-67911B4AE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4418094"/>
            <a:ext cx="2061845" cy="202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9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C7826EA-3CD9-1F91-B8A4-F31CDCBC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Kako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mom </a:t>
            </a:r>
            <a:r>
              <a:rPr lang="en-US" dirty="0" err="1"/>
              <a:t>projektu</a:t>
            </a:r>
            <a:r>
              <a:rPr lang="en-US" dirty="0"/>
              <a:t>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56ACFBC-401A-DB9A-FEFC-AA694D59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2321560"/>
            <a:ext cx="9872871" cy="4038600"/>
          </a:xfrm>
        </p:spPr>
        <p:txBody>
          <a:bodyPr/>
          <a:lstStyle/>
          <a:p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koristim</a:t>
            </a:r>
            <a:r>
              <a:rPr lang="en-US" dirty="0"/>
              <a:t> </a:t>
            </a:r>
            <a:r>
              <a:rPr lang="en-US" dirty="0" err="1"/>
              <a:t>rule_based_action</a:t>
            </a:r>
            <a:r>
              <a:rPr lang="en-US" dirty="0"/>
              <a:t> za </a:t>
            </a:r>
            <a:r>
              <a:rPr lang="en-US" dirty="0" err="1"/>
              <a:t>hitne</a:t>
            </a:r>
            <a:r>
              <a:rPr lang="en-US" dirty="0"/>
              <a:t> I </a:t>
            </a:r>
            <a:r>
              <a:rPr lang="en-US" dirty="0" err="1"/>
              <a:t>jasne</a:t>
            </a:r>
            <a:r>
              <a:rPr lang="en-US" dirty="0"/>
              <a:t> </a:t>
            </a:r>
            <a:r>
              <a:rPr lang="en-US" dirty="0" err="1"/>
              <a:t>slučajeve</a:t>
            </a:r>
            <a:r>
              <a:rPr lang="en-US" dirty="0"/>
              <a:t> (</a:t>
            </a:r>
            <a:r>
              <a:rPr lang="en-US" dirty="0" err="1"/>
              <a:t>prisustvo</a:t>
            </a:r>
            <a:r>
              <a:rPr lang="en-US" dirty="0"/>
              <a:t> </a:t>
            </a:r>
            <a:r>
              <a:rPr lang="en-US" dirty="0" err="1"/>
              <a:t>varoe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slabost</a:t>
            </a:r>
            <a:r>
              <a:rPr lang="en-US" dirty="0"/>
              <a:t> </a:t>
            </a:r>
            <a:r>
              <a:rPr lang="en-US" dirty="0" err="1"/>
              <a:t>pčelinje</a:t>
            </a:r>
            <a:r>
              <a:rPr lang="en-US" dirty="0"/>
              <a:t> </a:t>
            </a:r>
            <a:r>
              <a:rPr lang="en-US" dirty="0" err="1"/>
              <a:t>zajednice</a:t>
            </a:r>
            <a:r>
              <a:rPr lang="en-US" dirty="0"/>
              <a:t>)</a:t>
            </a:r>
          </a:p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povratnih</a:t>
            </a:r>
            <a:r>
              <a:rPr lang="en-US" dirty="0"/>
              <a:t> </a:t>
            </a:r>
            <a:r>
              <a:rPr lang="en-US" dirty="0" err="1"/>
              <a:t>informacija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SGDClassifier</a:t>
            </a:r>
            <a:r>
              <a:rPr lang="en-US" dirty="0"/>
              <a:t> se </a:t>
            </a:r>
            <a:r>
              <a:rPr lang="en-US" dirty="0" err="1"/>
              <a:t>trenira</a:t>
            </a:r>
            <a:r>
              <a:rPr lang="en-US" dirty="0"/>
              <a:t> </a:t>
            </a:r>
            <a:r>
              <a:rPr lang="en-US" dirty="0" err="1"/>
              <a:t>novim</a:t>
            </a:r>
            <a:r>
              <a:rPr lang="en-US" dirty="0"/>
              <a:t> </a:t>
            </a:r>
            <a:r>
              <a:rPr lang="en-US" dirty="0" err="1"/>
              <a:t>podacima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predviđa</a:t>
            </a:r>
            <a:r>
              <a:rPr lang="en-US" dirty="0"/>
              <a:t> </a:t>
            </a:r>
            <a:r>
              <a:rPr lang="en-US" dirty="0" err="1"/>
              <a:t>odgovarajuću</a:t>
            </a:r>
            <a:r>
              <a:rPr lang="en-US" dirty="0"/>
              <a:t> </a:t>
            </a:r>
            <a:r>
              <a:rPr lang="en-US" dirty="0" err="1"/>
              <a:t>akciju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mjerenja</a:t>
            </a:r>
            <a:r>
              <a:rPr lang="en-US" dirty="0"/>
              <a:t> temperature, </a:t>
            </a:r>
            <a:r>
              <a:rPr lang="en-US" dirty="0" err="1"/>
              <a:t>vlage</a:t>
            </a:r>
            <a:r>
              <a:rPr lang="en-US" dirty="0"/>
              <a:t>, </a:t>
            </a:r>
            <a:r>
              <a:rPr lang="en-US" dirty="0" err="1"/>
              <a:t>snage</a:t>
            </a:r>
            <a:r>
              <a:rPr lang="en-US" dirty="0"/>
              <a:t> </a:t>
            </a:r>
            <a:r>
              <a:rPr lang="en-US" dirty="0" err="1"/>
              <a:t>zajednice</a:t>
            </a:r>
            <a:r>
              <a:rPr lang="en-US" dirty="0"/>
              <a:t> I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parametara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92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D5E9C79-3BE6-DC9D-EC5F-1403DB96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</a:t>
            </a:r>
          </a:p>
        </p:txBody>
      </p:sp>
      <p:pic>
        <p:nvPicPr>
          <p:cNvPr id="5" name="Rezervirano mjesto sadržaja 4" descr="Slika koja sadrži tekst, snimak ekrana, Font, broj&#10;&#10;Sadržaj koji je generiran pomoću AI-ja može biti netačan.">
            <a:extLst>
              <a:ext uri="{FF2B5EF4-FFF2-40B4-BE49-F238E27FC236}">
                <a16:creationId xmlns:a16="http://schemas.microsoft.com/office/drawing/2014/main" id="{F756FD05-8B53-66A9-DF39-DC0324979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965960"/>
            <a:ext cx="3494314" cy="4038600"/>
          </a:xfrm>
          <a:prstGeom prst="rect">
            <a:avLst/>
          </a:prstGeom>
        </p:spPr>
      </p:pic>
      <p:pic>
        <p:nvPicPr>
          <p:cNvPr id="7" name="Slika 6" descr="Slika koja sadrži tekst, snimak ekrana, broj, Font&#10;&#10;Sadržaj koji je generiran pomoću AI-ja može biti netačan.">
            <a:extLst>
              <a:ext uri="{FF2B5EF4-FFF2-40B4-BE49-F238E27FC236}">
                <a16:creationId xmlns:a16="http://schemas.microsoft.com/office/drawing/2014/main" id="{E8F99E13-B279-56FC-5453-84A5BB830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885" y="924560"/>
            <a:ext cx="3388739" cy="516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04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1F787B1-92B9-1D58-FD3B-F014F0BF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609600"/>
            <a:ext cx="9875520" cy="1356360"/>
          </a:xfrm>
        </p:spPr>
        <p:txBody>
          <a:bodyPr/>
          <a:lstStyle/>
          <a:p>
            <a:r>
              <a:rPr lang="en-US" dirty="0" err="1"/>
              <a:t>Dokumentacija</a:t>
            </a:r>
            <a:endParaRPr lang="en-U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493965B-9E30-8E85-1F3D-1CC6EAF2F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62" y="2466153"/>
            <a:ext cx="7132320" cy="2440622"/>
          </a:xfrm>
        </p:spPr>
        <p:txBody>
          <a:bodyPr numCol="2">
            <a:normAutofit fontScale="92500" lnSpcReduction="10000"/>
          </a:bodyPr>
          <a:lstStyle/>
          <a:p>
            <a:r>
              <a:rPr lang="en-US" dirty="0"/>
              <a:t>Backend: </a:t>
            </a:r>
          </a:p>
          <a:p>
            <a:r>
              <a:rPr lang="en-US" dirty="0" err="1"/>
              <a:t>FastAPI</a:t>
            </a:r>
            <a:r>
              <a:rPr lang="en-US" dirty="0"/>
              <a:t> + Python</a:t>
            </a:r>
          </a:p>
          <a:p>
            <a:r>
              <a:rPr lang="en-US" dirty="0" err="1"/>
              <a:t>SGDClassifier</a:t>
            </a:r>
            <a:r>
              <a:rPr lang="en-US" dirty="0"/>
              <a:t> za </a:t>
            </a:r>
            <a:r>
              <a:rPr lang="en-US" dirty="0" err="1"/>
              <a:t>predikciju</a:t>
            </a:r>
            <a:endParaRPr lang="en-US" dirty="0"/>
          </a:p>
          <a:p>
            <a:r>
              <a:rPr lang="en-US" dirty="0" err="1"/>
              <a:t>Pravila</a:t>
            </a:r>
            <a:r>
              <a:rPr lang="en-US" dirty="0"/>
              <a:t> + </a:t>
            </a:r>
            <a:r>
              <a:rPr lang="en-US" dirty="0" err="1"/>
              <a:t>učenje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feedback </a:t>
            </a:r>
            <a:r>
              <a:rPr lang="en-US" dirty="0" err="1"/>
              <a:t>korisnika</a:t>
            </a:r>
            <a:endParaRPr lang="en-US" dirty="0"/>
          </a:p>
          <a:p>
            <a:r>
              <a:rPr lang="en-US" dirty="0"/>
              <a:t>MSSQL </a:t>
            </a:r>
            <a:r>
              <a:rPr lang="en-US" dirty="0" err="1"/>
              <a:t>baza</a:t>
            </a:r>
            <a:r>
              <a:rPr lang="en-US" dirty="0"/>
              <a:t> + </a:t>
            </a:r>
            <a:r>
              <a:rPr lang="en-US" dirty="0" err="1"/>
              <a:t>endpointi</a:t>
            </a:r>
            <a:endParaRPr lang="en-US" dirty="0"/>
          </a:p>
          <a:p>
            <a:r>
              <a:rPr lang="en-US" dirty="0"/>
              <a:t>Frontend:</a:t>
            </a:r>
          </a:p>
          <a:p>
            <a:r>
              <a:rPr lang="en-US" dirty="0"/>
              <a:t>React.js </a:t>
            </a:r>
          </a:p>
          <a:p>
            <a:r>
              <a:rPr lang="en-US" dirty="0" err="1"/>
              <a:t>Komunikacija</a:t>
            </a:r>
            <a:r>
              <a:rPr lang="en-US" dirty="0"/>
              <a:t> REST API-</a:t>
            </a:r>
            <a:r>
              <a:rPr lang="en-US" dirty="0" err="1"/>
              <a:t>jem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backendom</a:t>
            </a:r>
            <a:endParaRPr lang="en-US" dirty="0"/>
          </a:p>
          <a:p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predikcija</a:t>
            </a:r>
            <a:r>
              <a:rPr lang="en-US" dirty="0"/>
              <a:t> I </a:t>
            </a:r>
            <a:r>
              <a:rPr lang="en-US" dirty="0" err="1"/>
              <a:t>slanje</a:t>
            </a:r>
            <a:r>
              <a:rPr lang="en-US" dirty="0"/>
              <a:t> </a:t>
            </a:r>
            <a:r>
              <a:rPr lang="en-US" dirty="0" err="1"/>
              <a:t>korisničkog</a:t>
            </a:r>
            <a:r>
              <a:rPr lang="en-US" dirty="0"/>
              <a:t> </a:t>
            </a:r>
            <a:r>
              <a:rPr lang="en-US" dirty="0" err="1"/>
              <a:t>feedbacka</a:t>
            </a:r>
            <a:endParaRPr lang="en-US" dirty="0"/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405136ED-06B5-B638-5691-56066D9CD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174" y="1371917"/>
            <a:ext cx="1950721" cy="3834578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F9B0E03C-F209-E29A-F650-A65D83E13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427" y="1371917"/>
            <a:ext cx="1870830" cy="383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81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A50C6C9-5E19-89ED-05B9-AC2030427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HVALA NA PAŽNJI!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8F651E3-E77E-4AE2-C410-D83D53F38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74674"/>
      </p:ext>
    </p:extLst>
  </p:cSld>
  <p:clrMapOvr>
    <a:masterClrMapping/>
  </p:clrMapOvr>
</p:sld>
</file>

<file path=ppt/theme/theme1.xml><?xml version="1.0" encoding="utf-8"?>
<a:theme xmlns:a="http://schemas.openxmlformats.org/drawingml/2006/main" name="Osnova">
  <a:themeElements>
    <a:clrScheme name="Osnova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Osnova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snova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448</TotalTime>
  <Words>319</Words>
  <Application>Microsoft Office PowerPoint</Application>
  <PresentationFormat>Široki ekran</PresentationFormat>
  <Paragraphs>69</Paragraphs>
  <Slides>13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1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15" baseType="lpstr">
      <vt:lpstr>Corbel</vt:lpstr>
      <vt:lpstr>Osnova</vt:lpstr>
      <vt:lpstr>BeeAgent</vt:lpstr>
      <vt:lpstr>Šta je BeeAgent?</vt:lpstr>
      <vt:lpstr>Ulazni podaci</vt:lpstr>
      <vt:lpstr>Izlaz agenta</vt:lpstr>
      <vt:lpstr>Kako BeeAgent radi?</vt:lpstr>
      <vt:lpstr>Baza podataka</vt:lpstr>
      <vt:lpstr>Dataset</vt:lpstr>
      <vt:lpstr>Strategija učenja</vt:lpstr>
      <vt:lpstr>Algoritam</vt:lpstr>
      <vt:lpstr>Kako algoritam funkcioniše na mom projektu?</vt:lpstr>
      <vt:lpstr>UI</vt:lpstr>
      <vt:lpstr>Dokumentacija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Čolakhodžić</dc:creator>
  <cp:lastModifiedBy>Omar Čolakhodžić</cp:lastModifiedBy>
  <cp:revision>41</cp:revision>
  <dcterms:created xsi:type="dcterms:W3CDTF">2025-12-13T12:47:38Z</dcterms:created>
  <dcterms:modified xsi:type="dcterms:W3CDTF">2025-12-15T16:08:47Z</dcterms:modified>
</cp:coreProperties>
</file>